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 ads: images, banners or short animations placed through ad networks like the Google Display Network. Mainly for brand awareness, and can retarget people who already visited the brand's website.</a:t>
            </a:r>
          </a:p>
          <a:p/>
          <a:p>
            <a:r>
              <a:t>Search ads: triggered by the keywords people type and labeled "Sponsored". Use pay-per-click (PPC), so the business only pays when someone clicks. They reach people who are already looking for the product.</a:t>
            </a:r>
          </a:p>
          <a:p/>
          <a:p>
            <a:r>
              <a:t>Video advertising: runs on YouTube, TikTok, Instagram Reels and streaming. Formats include skippable, non-skippable and 6-second bumper ads. Sound and storytelling make them more memorable.</a:t>
            </a:r>
          </a:p>
          <a:p/>
          <a:p>
            <a:r>
              <a:t>Text messages: very high open rate and good for short, time-sensitive offers. Customers must opt in and be able to opt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In-app advertising: banners, full-screen (interstitial) ads and rewarded ads, where users get something in return like coins or extra lives.</a:t>
            </a:r>
          </a:p>
          <a:p/>
          <a:p>
            <a:r>
              <a:t>QR codes, digital watermarks and 2D barcodes: QR codes open a website, form or payment page; digital watermarks are invisible codes hidden in images or packaging; 2D barcodes store more information than normal barcodes. Scans can be tracked.</a:t>
            </a:r>
          </a:p>
          <a:p/>
          <a:p>
            <a:r>
              <a:t>Geo-targeting: uses GPS or IP address to show location-based ads. Geofencing triggers an ad when someone enters a set area. Great for local businesses.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SEO improves a website so it ranks higher in organic search results. Key elements are using relevant keywords in titles, headings and content, publishing useful content, making the site fast and mobile-friendly, and getting backlinks from trusted websites. SEO does not cost money for ads and its results last a long time, but it takes time to work. For example, a shoe store could write a blog post like "Best Running Shoes for Beginners" and use "running shoes" in its page titles so it shows up when people search for running shoes.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1F1B2E"/>
                </a:solidFill>
                <a:latin typeface="Calibri"/>
              </a:rPr>
              <a:t>Types of Mobile Marketing (1/2)</a:t>
            </a:r>
          </a:p>
        </p:txBody>
      </p:sp>
      <p:sp>
        <p:nvSpPr>
          <p:cNvPr id="3" name="Display Ads card"/>
          <p:cNvSpPr/>
          <p:nvPr/>
        </p:nvSpPr>
        <p:spPr>
          <a:xfrm>
            <a:off x="548640" y="1325880"/>
            <a:ext cx="5387187" cy="2377440"/>
          </a:xfrm>
          <a:prstGeom prst="roundRect">
            <a:avLst>
              <a:gd name="adj" fmla="val 5769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isplay icon circle"/>
          <p:cNvSpPr/>
          <p:nvPr/>
        </p:nvSpPr>
        <p:spPr>
          <a:xfrm>
            <a:off x="822959" y="160020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display icon" descr="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9" y="1771650"/>
            <a:ext cx="342900" cy="342900"/>
          </a:xfrm>
          <a:prstGeom prst="rect">
            <a:avLst/>
          </a:prstGeom>
        </p:spPr>
      </p:pic>
      <p:sp>
        <p:nvSpPr>
          <p:cNvPr id="6" name="Display Ads name"/>
          <p:cNvSpPr txBox="1"/>
          <p:nvPr/>
        </p:nvSpPr>
        <p:spPr>
          <a:xfrm>
            <a:off x="1691640" y="1600200"/>
            <a:ext cx="3969867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Display Ads</a:t>
            </a:r>
          </a:p>
        </p:txBody>
      </p:sp>
      <p:sp>
        <p:nvSpPr>
          <p:cNvPr id="7" name="Display Ads definition"/>
          <p:cNvSpPr txBox="1"/>
          <p:nvPr/>
        </p:nvSpPr>
        <p:spPr>
          <a:xfrm>
            <a:off x="822959" y="2423160"/>
            <a:ext cx="4838547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Visual ads on websites or apps.</a:t>
            </a:r>
          </a:p>
        </p:txBody>
      </p:sp>
      <p:sp>
        <p:nvSpPr>
          <p:cNvPr id="8" name="Example box"/>
          <p:cNvSpPr/>
          <p:nvPr/>
        </p:nvSpPr>
        <p:spPr>
          <a:xfrm>
            <a:off x="822959" y="2926080"/>
            <a:ext cx="4838547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xample"/>
          <p:cNvSpPr txBox="1"/>
          <p:nvPr/>
        </p:nvSpPr>
        <p:spPr>
          <a:xfrm>
            <a:off x="1005839" y="2926080"/>
            <a:ext cx="4472787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 banner showing a discount.</a:t>
            </a:r>
          </a:p>
        </p:txBody>
      </p:sp>
      <p:sp>
        <p:nvSpPr>
          <p:cNvPr id="10" name="Search Ads card"/>
          <p:cNvSpPr/>
          <p:nvPr/>
        </p:nvSpPr>
        <p:spPr>
          <a:xfrm>
            <a:off x="6255867" y="1325880"/>
            <a:ext cx="5387187" cy="2377440"/>
          </a:xfrm>
          <a:prstGeom prst="roundRect">
            <a:avLst>
              <a:gd name="adj" fmla="val 5769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earch icon circle"/>
          <p:cNvSpPr/>
          <p:nvPr/>
        </p:nvSpPr>
        <p:spPr>
          <a:xfrm>
            <a:off x="6530187" y="160020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arch icon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637" y="1771650"/>
            <a:ext cx="342900" cy="342900"/>
          </a:xfrm>
          <a:prstGeom prst="rect">
            <a:avLst/>
          </a:prstGeom>
        </p:spPr>
      </p:pic>
      <p:sp>
        <p:nvSpPr>
          <p:cNvPr id="13" name="Search Ads name"/>
          <p:cNvSpPr txBox="1"/>
          <p:nvPr/>
        </p:nvSpPr>
        <p:spPr>
          <a:xfrm>
            <a:off x="7398867" y="1600200"/>
            <a:ext cx="3969867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Search Ads</a:t>
            </a:r>
          </a:p>
        </p:txBody>
      </p:sp>
      <p:sp>
        <p:nvSpPr>
          <p:cNvPr id="14" name="Search Ads definition"/>
          <p:cNvSpPr txBox="1"/>
          <p:nvPr/>
        </p:nvSpPr>
        <p:spPr>
          <a:xfrm>
            <a:off x="6530187" y="2423160"/>
            <a:ext cx="4838547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Ads appearing in search results.</a:t>
            </a:r>
          </a:p>
        </p:txBody>
      </p:sp>
      <p:sp>
        <p:nvSpPr>
          <p:cNvPr id="15" name="Example box"/>
          <p:cNvSpPr/>
          <p:nvPr/>
        </p:nvSpPr>
        <p:spPr>
          <a:xfrm>
            <a:off x="6530187" y="2926080"/>
            <a:ext cx="4838547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xample"/>
          <p:cNvSpPr txBox="1"/>
          <p:nvPr/>
        </p:nvSpPr>
        <p:spPr>
          <a:xfrm>
            <a:off x="6713067" y="2926080"/>
            <a:ext cx="4472787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 restaurant ad on Google.</a:t>
            </a:r>
          </a:p>
        </p:txBody>
      </p:sp>
      <p:sp>
        <p:nvSpPr>
          <p:cNvPr id="17" name="Video Advertising card"/>
          <p:cNvSpPr/>
          <p:nvPr/>
        </p:nvSpPr>
        <p:spPr>
          <a:xfrm>
            <a:off x="548640" y="4023360"/>
            <a:ext cx="5387187" cy="2377440"/>
          </a:xfrm>
          <a:prstGeom prst="roundRect">
            <a:avLst>
              <a:gd name="adj" fmla="val 5769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video icon circle"/>
          <p:cNvSpPr/>
          <p:nvPr/>
        </p:nvSpPr>
        <p:spPr>
          <a:xfrm>
            <a:off x="822959" y="429768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video icon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09" y="4469130"/>
            <a:ext cx="342900" cy="342900"/>
          </a:xfrm>
          <a:prstGeom prst="rect">
            <a:avLst/>
          </a:prstGeom>
        </p:spPr>
      </p:pic>
      <p:sp>
        <p:nvSpPr>
          <p:cNvPr id="20" name="Video Advertising name"/>
          <p:cNvSpPr txBox="1"/>
          <p:nvPr/>
        </p:nvSpPr>
        <p:spPr>
          <a:xfrm>
            <a:off x="1691640" y="4297680"/>
            <a:ext cx="3969867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Video Advertising</a:t>
            </a:r>
          </a:p>
        </p:txBody>
      </p:sp>
      <p:sp>
        <p:nvSpPr>
          <p:cNvPr id="21" name="Video Advertising definition"/>
          <p:cNvSpPr txBox="1"/>
          <p:nvPr/>
        </p:nvSpPr>
        <p:spPr>
          <a:xfrm>
            <a:off x="822959" y="5120640"/>
            <a:ext cx="4838547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Promotions through videos.</a:t>
            </a:r>
          </a:p>
        </p:txBody>
      </p:sp>
      <p:sp>
        <p:nvSpPr>
          <p:cNvPr id="22" name="Example box"/>
          <p:cNvSpPr/>
          <p:nvPr/>
        </p:nvSpPr>
        <p:spPr>
          <a:xfrm>
            <a:off x="822959" y="5623560"/>
            <a:ext cx="4838547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xample"/>
          <p:cNvSpPr txBox="1"/>
          <p:nvPr/>
        </p:nvSpPr>
        <p:spPr>
          <a:xfrm>
            <a:off x="1005839" y="5623560"/>
            <a:ext cx="4472787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 YouTube advertisement.</a:t>
            </a:r>
          </a:p>
        </p:txBody>
      </p:sp>
      <p:sp>
        <p:nvSpPr>
          <p:cNvPr id="24" name="Text Messages card"/>
          <p:cNvSpPr/>
          <p:nvPr/>
        </p:nvSpPr>
        <p:spPr>
          <a:xfrm>
            <a:off x="6255867" y="4023360"/>
            <a:ext cx="5387187" cy="2377440"/>
          </a:xfrm>
          <a:prstGeom prst="roundRect">
            <a:avLst>
              <a:gd name="adj" fmla="val 5769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ms icon circle"/>
          <p:cNvSpPr/>
          <p:nvPr/>
        </p:nvSpPr>
        <p:spPr>
          <a:xfrm>
            <a:off x="6530187" y="429768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sms icon" descr="s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637" y="4469130"/>
            <a:ext cx="342900" cy="342900"/>
          </a:xfrm>
          <a:prstGeom prst="rect">
            <a:avLst/>
          </a:prstGeom>
        </p:spPr>
      </p:pic>
      <p:sp>
        <p:nvSpPr>
          <p:cNvPr id="27" name="Text Messages name"/>
          <p:cNvSpPr txBox="1"/>
          <p:nvPr/>
        </p:nvSpPr>
        <p:spPr>
          <a:xfrm>
            <a:off x="7398867" y="4297680"/>
            <a:ext cx="3969867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Text Messages</a:t>
            </a:r>
          </a:p>
        </p:txBody>
      </p:sp>
      <p:sp>
        <p:nvSpPr>
          <p:cNvPr id="28" name="Text Messages definition"/>
          <p:cNvSpPr txBox="1"/>
          <p:nvPr/>
        </p:nvSpPr>
        <p:spPr>
          <a:xfrm>
            <a:off x="6530187" y="5120640"/>
            <a:ext cx="4838547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Promotions sent through SMS.</a:t>
            </a:r>
          </a:p>
        </p:txBody>
      </p:sp>
      <p:sp>
        <p:nvSpPr>
          <p:cNvPr id="29" name="Example box"/>
          <p:cNvSpPr/>
          <p:nvPr/>
        </p:nvSpPr>
        <p:spPr>
          <a:xfrm>
            <a:off x="6530187" y="5623560"/>
            <a:ext cx="4838547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xample"/>
          <p:cNvSpPr txBox="1"/>
          <p:nvPr/>
        </p:nvSpPr>
        <p:spPr>
          <a:xfrm>
            <a:off x="6713067" y="5623560"/>
            <a:ext cx="4472787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 discount code sent by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1F1B2E"/>
                </a:solidFill>
                <a:latin typeface="Calibri"/>
              </a:rPr>
              <a:t>Types of Mobile Marketing (2/2)</a:t>
            </a:r>
          </a:p>
        </p:txBody>
      </p:sp>
      <p:sp>
        <p:nvSpPr>
          <p:cNvPr id="3" name="In-app Advertising card"/>
          <p:cNvSpPr/>
          <p:nvPr/>
        </p:nvSpPr>
        <p:spPr>
          <a:xfrm>
            <a:off x="548640" y="1325880"/>
            <a:ext cx="3484778" cy="5074920"/>
          </a:xfrm>
          <a:prstGeom prst="roundRect">
            <a:avLst>
              <a:gd name="adj" fmla="val 3935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inapp icon circle"/>
          <p:cNvSpPr/>
          <p:nvPr/>
        </p:nvSpPr>
        <p:spPr>
          <a:xfrm>
            <a:off x="868680" y="169164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inapp icon" descr="in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908810"/>
            <a:ext cx="434340" cy="434340"/>
          </a:xfrm>
          <a:prstGeom prst="rect">
            <a:avLst/>
          </a:prstGeom>
        </p:spPr>
      </p:pic>
      <p:sp>
        <p:nvSpPr>
          <p:cNvPr id="6" name="In-app Advertising name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In-app Advertising</a:t>
            </a:r>
          </a:p>
        </p:txBody>
      </p:sp>
      <p:sp>
        <p:nvSpPr>
          <p:cNvPr id="7" name="In-app Advertising definition"/>
          <p:cNvSpPr txBox="1"/>
          <p:nvPr/>
        </p:nvSpPr>
        <p:spPr>
          <a:xfrm>
            <a:off x="868680" y="3977639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Ads inside mobile apps.</a:t>
            </a:r>
          </a:p>
        </p:txBody>
      </p:sp>
      <p:sp>
        <p:nvSpPr>
          <p:cNvPr id="8" name="Example box"/>
          <p:cNvSpPr/>
          <p:nvPr/>
        </p:nvSpPr>
        <p:spPr>
          <a:xfrm>
            <a:off x="868680" y="5074920"/>
            <a:ext cx="284469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xample"/>
          <p:cNvSpPr txBox="1"/>
          <p:nvPr/>
        </p:nvSpPr>
        <p:spPr>
          <a:xfrm>
            <a:off x="1051560" y="5074920"/>
            <a:ext cx="2478938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An ad appearing in a mobile game.</a:t>
            </a:r>
          </a:p>
        </p:txBody>
      </p:sp>
      <p:sp>
        <p:nvSpPr>
          <p:cNvPr id="10" name="QR Codes, Digital Watermarks, and 2D Barcodes card"/>
          <p:cNvSpPr/>
          <p:nvPr/>
        </p:nvSpPr>
        <p:spPr>
          <a:xfrm>
            <a:off x="4353458" y="1325880"/>
            <a:ext cx="3484778" cy="5074920"/>
          </a:xfrm>
          <a:prstGeom prst="roundRect">
            <a:avLst>
              <a:gd name="adj" fmla="val 3935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qr icon circle"/>
          <p:cNvSpPr/>
          <p:nvPr/>
        </p:nvSpPr>
        <p:spPr>
          <a:xfrm>
            <a:off x="4673498" y="169164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qr icon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68" y="1908810"/>
            <a:ext cx="434340" cy="434340"/>
          </a:xfrm>
          <a:prstGeom prst="rect">
            <a:avLst/>
          </a:prstGeom>
        </p:spPr>
      </p:pic>
      <p:sp>
        <p:nvSpPr>
          <p:cNvPr id="13" name="QR Codes, Digital Watermarks, and 2D Barcodes name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QR Codes, Digital Watermarks, and 2D Barcodes</a:t>
            </a:r>
          </a:p>
        </p:txBody>
      </p:sp>
      <p:sp>
        <p:nvSpPr>
          <p:cNvPr id="14" name="QR Codes, Digital Watermarks, and 2D Barcodes definition"/>
          <p:cNvSpPr txBox="1"/>
          <p:nvPr/>
        </p:nvSpPr>
        <p:spPr>
          <a:xfrm>
            <a:off x="4673498" y="3977639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Technologies connecting users to digital information.</a:t>
            </a:r>
          </a:p>
        </p:txBody>
      </p:sp>
      <p:sp>
        <p:nvSpPr>
          <p:cNvPr id="15" name="Example box"/>
          <p:cNvSpPr/>
          <p:nvPr/>
        </p:nvSpPr>
        <p:spPr>
          <a:xfrm>
            <a:off x="4673498" y="5074920"/>
            <a:ext cx="284469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xample"/>
          <p:cNvSpPr txBox="1"/>
          <p:nvPr/>
        </p:nvSpPr>
        <p:spPr>
          <a:xfrm>
            <a:off x="4856378" y="5074920"/>
            <a:ext cx="2478938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Scanning a QR code to register for an event.</a:t>
            </a:r>
          </a:p>
        </p:txBody>
      </p:sp>
      <p:sp>
        <p:nvSpPr>
          <p:cNvPr id="17" name="Geo-targeting card"/>
          <p:cNvSpPr/>
          <p:nvPr/>
        </p:nvSpPr>
        <p:spPr>
          <a:xfrm>
            <a:off x="8158276" y="1325880"/>
            <a:ext cx="3484778" cy="5074920"/>
          </a:xfrm>
          <a:prstGeom prst="roundRect">
            <a:avLst>
              <a:gd name="adj" fmla="val 3935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eo icon circle"/>
          <p:cNvSpPr/>
          <p:nvPr/>
        </p:nvSpPr>
        <p:spPr>
          <a:xfrm>
            <a:off x="8478316" y="169164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eo icon" descr="g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486" y="1908810"/>
            <a:ext cx="434340" cy="434340"/>
          </a:xfrm>
          <a:prstGeom prst="rect">
            <a:avLst/>
          </a:prstGeom>
        </p:spPr>
      </p:pic>
      <p:sp>
        <p:nvSpPr>
          <p:cNvPr id="20" name="Geo-targeting name"/>
          <p:cNvSpPr txBox="1"/>
          <p:nvPr/>
        </p:nvSpPr>
        <p:spPr>
          <a:xfrm>
            <a:off x="8478316" y="2743200"/>
            <a:ext cx="284469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F1B2E"/>
                </a:solidFill>
                <a:latin typeface="Calibri"/>
              </a:rPr>
              <a:t>Geo-targeting</a:t>
            </a:r>
          </a:p>
        </p:txBody>
      </p:sp>
      <p:sp>
        <p:nvSpPr>
          <p:cNvPr id="21" name="Geo-targeting definition"/>
          <p:cNvSpPr txBox="1"/>
          <p:nvPr/>
        </p:nvSpPr>
        <p:spPr>
          <a:xfrm>
            <a:off x="8478316" y="3977639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Targeting customers based on location.</a:t>
            </a:r>
          </a:p>
        </p:txBody>
      </p:sp>
      <p:sp>
        <p:nvSpPr>
          <p:cNvPr id="22" name="Example box"/>
          <p:cNvSpPr/>
          <p:nvPr/>
        </p:nvSpPr>
        <p:spPr>
          <a:xfrm>
            <a:off x="8478316" y="5074920"/>
            <a:ext cx="284469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xample"/>
          <p:cNvSpPr txBox="1"/>
          <p:nvPr/>
        </p:nvSpPr>
        <p:spPr>
          <a:xfrm>
            <a:off x="8661196" y="5074920"/>
            <a:ext cx="2478938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1400" b="0" i="1">
                <a:solidFill>
                  <a:srgbClr val="374151"/>
                </a:solidFill>
                <a:latin typeface="Calibri"/>
              </a:rPr>
              <a:t>A café promotes offers to people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1F1B2E"/>
                </a:solidFill>
                <a:latin typeface="Calibri"/>
              </a:rPr>
              <a:t>Search Engine Optimization (SEO)</a:t>
            </a:r>
          </a:p>
        </p:txBody>
      </p:sp>
      <p:sp>
        <p:nvSpPr>
          <p:cNvPr id="3" name="SEO bullets"/>
          <p:cNvSpPr txBox="1"/>
          <p:nvPr/>
        </p:nvSpPr>
        <p:spPr>
          <a:xfrm>
            <a:off x="548640" y="1417320"/>
            <a:ext cx="5577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300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374151"/>
                </a:solidFill>
                <a:latin typeface="Calibri"/>
              </a:rPr>
              <a:t>SEO is the process of increasing the likelihood that a website appears in organic (unpaid) search engine results</a:t>
            </a:r>
          </a:p>
          <a:p>
            <a:pPr marL="274320" indent="-274320">
              <a:spcAft>
                <a:spcPts val="3000"/>
              </a:spcAft>
              <a:buClr>
                <a:srgbClr val="6D28D9"/>
              </a:buClr>
              <a:buChar char="•"/>
            </a:pPr>
            <a:r>
              <a:rPr sz="2200" b="1" i="0">
                <a:solidFill>
                  <a:srgbClr val="1F1B2E"/>
                </a:solidFill>
                <a:latin typeface="Calibri"/>
              </a:rPr>
              <a:t>Key elements: </a:t>
            </a:r>
            <a:r>
              <a:rPr sz="2200" b="0" i="0">
                <a:solidFill>
                  <a:srgbClr val="374151"/>
                </a:solidFill>
                <a:latin typeface="Calibri"/>
              </a:rPr>
              <a:t>keywords, quality content, fast and mobile-friendly website, backlinks</a:t>
            </a:r>
          </a:p>
          <a:p>
            <a:pPr marL="274320" indent="-274320">
              <a:spcAft>
                <a:spcPts val="3000"/>
              </a:spcAft>
              <a:buClr>
                <a:srgbClr val="6D28D9"/>
              </a:buClr>
              <a:buChar char="•"/>
            </a:pPr>
            <a:r>
              <a:rPr sz="2200" b="1" i="0">
                <a:solidFill>
                  <a:srgbClr val="6D28D9"/>
                </a:solidFill>
                <a:latin typeface="Calibri"/>
              </a:rPr>
              <a:t>Example: </a:t>
            </a:r>
            <a:r>
              <a:rPr sz="2200" b="0" i="1">
                <a:solidFill>
                  <a:srgbClr val="374151"/>
                </a:solidFill>
                <a:latin typeface="Calibri"/>
              </a:rPr>
              <a:t>A shoe store optimizes its website so customers can find it when searching for running shoes on Google</a:t>
            </a:r>
          </a:p>
        </p:txBody>
      </p:sp>
      <p:sp>
        <p:nvSpPr>
          <p:cNvPr id="4" name="Search results panel"/>
          <p:cNvSpPr/>
          <p:nvPr/>
        </p:nvSpPr>
        <p:spPr>
          <a:xfrm>
            <a:off x="6583680" y="1325880"/>
            <a:ext cx="5059375" cy="5074920"/>
          </a:xfrm>
          <a:prstGeom prst="roundRect">
            <a:avLst>
              <a:gd name="adj" fmla="val 2711"/>
            </a:avLst>
          </a:prstGeom>
          <a:solidFill>
            <a:srgbClr val="F3EF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arch bar"/>
          <p:cNvSpPr/>
          <p:nvPr/>
        </p:nvSpPr>
        <p:spPr>
          <a:xfrm>
            <a:off x="6903720" y="1645919"/>
            <a:ext cx="4419295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earch query"/>
          <p:cNvSpPr txBox="1"/>
          <p:nvPr/>
        </p:nvSpPr>
        <p:spPr>
          <a:xfrm>
            <a:off x="7178040" y="1645919"/>
            <a:ext cx="33220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F1B2E"/>
                </a:solidFill>
                <a:latin typeface="Calibri"/>
              </a:rPr>
              <a:t>running shoes</a:t>
            </a:r>
          </a:p>
        </p:txBody>
      </p:sp>
      <p:sp>
        <p:nvSpPr>
          <p:cNvPr id="7" name="seo icon circle"/>
          <p:cNvSpPr/>
          <p:nvPr/>
        </p:nvSpPr>
        <p:spPr>
          <a:xfrm>
            <a:off x="10820095" y="17099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o icon" descr="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251" y="1815084"/>
            <a:ext cx="210312" cy="210312"/>
          </a:xfrm>
          <a:prstGeom prst="rect">
            <a:avLst/>
          </a:prstGeom>
        </p:spPr>
      </p:pic>
      <p:sp>
        <p:nvSpPr>
          <p:cNvPr id="9" name="stridestore.com result"/>
          <p:cNvSpPr/>
          <p:nvPr/>
        </p:nvSpPr>
        <p:spPr>
          <a:xfrm>
            <a:off x="6903720" y="2468880"/>
            <a:ext cx="4419295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source"/>
          <p:cNvSpPr txBox="1"/>
          <p:nvPr/>
        </p:nvSpPr>
        <p:spPr>
          <a:xfrm>
            <a:off x="7132320" y="2606040"/>
            <a:ext cx="2041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stridestore.com</a:t>
            </a:r>
          </a:p>
        </p:txBody>
      </p:sp>
      <p:sp>
        <p:nvSpPr>
          <p:cNvPr id="11" name="Top result chip"/>
          <p:cNvSpPr/>
          <p:nvPr/>
        </p:nvSpPr>
        <p:spPr>
          <a:xfrm>
            <a:off x="9219895" y="26060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op result label"/>
          <p:cNvSpPr txBox="1"/>
          <p:nvPr/>
        </p:nvSpPr>
        <p:spPr>
          <a:xfrm>
            <a:off x="9219895" y="2606040"/>
            <a:ext cx="19202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#1 thanks to SEO</a:t>
            </a:r>
          </a:p>
        </p:txBody>
      </p:sp>
      <p:sp>
        <p:nvSpPr>
          <p:cNvPr id="13" name="Result headline"/>
          <p:cNvSpPr txBox="1"/>
          <p:nvPr/>
        </p:nvSpPr>
        <p:spPr>
          <a:xfrm>
            <a:off x="7132320" y="2944368"/>
            <a:ext cx="39620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Best Running Shoes for Beginners</a:t>
            </a:r>
          </a:p>
        </p:txBody>
      </p:sp>
      <p:sp>
        <p:nvSpPr>
          <p:cNvPr id="14" name="Result snippet"/>
          <p:cNvSpPr/>
          <p:nvPr/>
        </p:nvSpPr>
        <p:spPr>
          <a:xfrm>
            <a:off x="7132320" y="3319272"/>
            <a:ext cx="2872541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hoereviews.com result"/>
          <p:cNvSpPr/>
          <p:nvPr/>
        </p:nvSpPr>
        <p:spPr>
          <a:xfrm>
            <a:off x="6903720" y="3749039"/>
            <a:ext cx="4419295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sult source"/>
          <p:cNvSpPr txBox="1"/>
          <p:nvPr/>
        </p:nvSpPr>
        <p:spPr>
          <a:xfrm>
            <a:off x="7132320" y="3886200"/>
            <a:ext cx="2041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shoereviews.com</a:t>
            </a:r>
          </a:p>
        </p:txBody>
      </p:sp>
      <p:sp>
        <p:nvSpPr>
          <p:cNvPr id="17" name="Result headline"/>
          <p:cNvSpPr txBox="1"/>
          <p:nvPr/>
        </p:nvSpPr>
        <p:spPr>
          <a:xfrm>
            <a:off x="7132320" y="4224527"/>
            <a:ext cx="39620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1B2E"/>
                </a:solidFill>
                <a:latin typeface="Calibri"/>
              </a:rPr>
              <a:t>Top 10 Running Shoes This Year</a:t>
            </a:r>
          </a:p>
        </p:txBody>
      </p:sp>
      <p:sp>
        <p:nvSpPr>
          <p:cNvPr id="18" name="Result snippet"/>
          <p:cNvSpPr/>
          <p:nvPr/>
        </p:nvSpPr>
        <p:spPr>
          <a:xfrm>
            <a:off x="7132320" y="4599431"/>
            <a:ext cx="2872541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ootwearhub.com result"/>
          <p:cNvSpPr/>
          <p:nvPr/>
        </p:nvSpPr>
        <p:spPr>
          <a:xfrm>
            <a:off x="6903720" y="5029200"/>
            <a:ext cx="4419295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sult source"/>
          <p:cNvSpPr txBox="1"/>
          <p:nvPr/>
        </p:nvSpPr>
        <p:spPr>
          <a:xfrm>
            <a:off x="7132320" y="5166360"/>
            <a:ext cx="2041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footwearhub.com</a:t>
            </a:r>
          </a:p>
        </p:txBody>
      </p:sp>
      <p:sp>
        <p:nvSpPr>
          <p:cNvPr id="21" name="Result headline"/>
          <p:cNvSpPr txBox="1"/>
          <p:nvPr/>
        </p:nvSpPr>
        <p:spPr>
          <a:xfrm>
            <a:off x="7132320" y="5504688"/>
            <a:ext cx="39620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1B2E"/>
                </a:solidFill>
                <a:latin typeface="Calibri"/>
              </a:rPr>
              <a:t>Running Shoes Buying Guide</a:t>
            </a:r>
          </a:p>
        </p:txBody>
      </p:sp>
      <p:sp>
        <p:nvSpPr>
          <p:cNvPr id="22" name="Result snippet"/>
          <p:cNvSpPr/>
          <p:nvPr/>
        </p:nvSpPr>
        <p:spPr>
          <a:xfrm>
            <a:off x="7132320" y="5879592"/>
            <a:ext cx="2872541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